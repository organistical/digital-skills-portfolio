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2" r:id="rId4"/>
    <p:sldId id="261" r:id="rId5"/>
    <p:sldId id="260" r:id="rId6"/>
    <p:sldId id="259" r:id="rId7"/>
    <p:sldId id="265" r:id="rId8"/>
    <p:sldId id="264" r:id="rId9"/>
    <p:sldId id="258" r:id="rId10"/>
    <p:sldId id="263" r:id="rId11"/>
    <p:sldId id="266" r:id="rId12"/>
    <p:sldId id="267" r:id="rId13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BAB5AC7-2567-4B4A-9ECE-762CC1806991}" v="584" dt="2026-06-02T17:51:39.813"/>
    <p1510:client id="{9FD6A99D-A1B7-4430-8D7F-C069A4478DBA}" v="81" dt="2026-06-02T18:17:35.2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02/06/2026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02/06/2026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02/06/2026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02/06/2026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02/06/2026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02/06/2026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02/06/2026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02/06/2026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02/06/2026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02/06/2026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02/06/2026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02/06/2026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llmi.help/impact-evidence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sbrihealthcare.org.uk/impact-case-studies/case-studies/" TargetMode="External"/><Relationship Id="rId5" Type="http://schemas.openxmlformats.org/officeDocument/2006/relationships/hyperlink" Target="https://lightbulbtrust.org/impact-partner/tellmi/" TargetMode="External"/><Relationship Id="rId4" Type="http://schemas.openxmlformats.org/officeDocument/2006/relationships/hyperlink" Target="https://bmjpaedsopen.bmj.com/content/9/1/e003592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692517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GB" b="1">
                <a:solidFill>
                  <a:srgbClr val="FFC000"/>
                </a:solidFill>
                <a:ea typeface="+mj-lt"/>
                <a:cs typeface="+mj-lt"/>
              </a:rPr>
              <a:t>How could digital technologies </a:t>
            </a:r>
            <a:endParaRPr lang="en-US" b="1">
              <a:solidFill>
                <a:srgbClr val="FFC000"/>
              </a:solidFill>
            </a:endParaRPr>
          </a:p>
          <a:p>
            <a:r>
              <a:rPr lang="en-GB" b="1">
                <a:solidFill>
                  <a:srgbClr val="FFC000"/>
                </a:solidFill>
                <a:ea typeface="+mj-lt"/>
                <a:cs typeface="+mj-lt"/>
              </a:rPr>
              <a:t>increase student wellbeing?</a:t>
            </a:r>
            <a:endParaRPr lang="en-GB" b="1">
              <a:solidFill>
                <a:srgbClr val="FFC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8846" y="3426192"/>
            <a:ext cx="9144000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sz="4000" dirty="0">
                <a:solidFill>
                  <a:srgbClr val="FFC000"/>
                </a:solidFill>
              </a:rPr>
              <a:t>By</a:t>
            </a:r>
            <a:br>
              <a:rPr lang="en-GB" sz="4000" dirty="0">
                <a:solidFill>
                  <a:srgbClr val="FFC000"/>
                </a:solidFill>
              </a:rPr>
            </a:br>
            <a:r>
              <a:rPr lang="en-GB" sz="4000">
                <a:solidFill>
                  <a:srgbClr val="FFC000"/>
                </a:solidFill>
              </a:rPr>
              <a:t>Leo D Hirani</a:t>
            </a:r>
            <a:endParaRPr lang="en-GB" sz="4000" dirty="0">
              <a:solidFill>
                <a:srgbClr val="FFC000"/>
              </a:solidFill>
            </a:endParaRPr>
          </a:p>
        </p:txBody>
      </p:sp>
      <p:pic>
        <p:nvPicPr>
          <p:cNvPr id="4" name="Picture 3" descr="How to Improve Student Wellbeing: 5 Ways to Enhance Student Mental Health —  HE Professional">
            <a:extLst>
              <a:ext uri="{FF2B5EF4-FFF2-40B4-BE49-F238E27FC236}">
                <a16:creationId xmlns:a16="http://schemas.microsoft.com/office/drawing/2014/main" id="{12581238-9CD3-5904-F7C8-36518D7420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5463" y="4793175"/>
            <a:ext cx="4992077" cy="1941341"/>
          </a:xfrm>
          <a:prstGeom prst="rect">
            <a:avLst/>
          </a:prstGeom>
        </p:spPr>
      </p:pic>
      <p:pic>
        <p:nvPicPr>
          <p:cNvPr id="5" name="Picture 4" descr="3 steps to improve student wellbeing | Ziplet">
            <a:extLst>
              <a:ext uri="{FF2B5EF4-FFF2-40B4-BE49-F238E27FC236}">
                <a16:creationId xmlns:a16="http://schemas.microsoft.com/office/drawing/2014/main" id="{03F0958D-E6A2-0B64-EDE0-D3C8CD2658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307" y="4793175"/>
            <a:ext cx="4659924" cy="1785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256AA-DFC2-FD67-E3FE-3A5AE4F30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954" y="3663"/>
            <a:ext cx="10515600" cy="1325563"/>
          </a:xfrm>
        </p:spPr>
        <p:txBody>
          <a:bodyPr/>
          <a:lstStyle/>
          <a:p>
            <a:r>
              <a:rPr lang="en-GB">
                <a:solidFill>
                  <a:srgbClr val="FFC000"/>
                </a:solidFill>
              </a:rPr>
              <a:t>What is Student Well-being?</a:t>
            </a:r>
          </a:p>
        </p:txBody>
      </p:sp>
      <p:pic>
        <p:nvPicPr>
          <p:cNvPr id="4" name="Content Placeholder 3" descr="Framework for Enhancing Student Mental Wellbeing - Uni Student Wellbeing">
            <a:extLst>
              <a:ext uri="{FF2B5EF4-FFF2-40B4-BE49-F238E27FC236}">
                <a16:creationId xmlns:a16="http://schemas.microsoft.com/office/drawing/2014/main" id="{6CE35F08-356D-C930-9528-B8BCF71926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779398" y="1479539"/>
            <a:ext cx="4105664" cy="4105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0500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958C35-C810-555F-7ED6-E2A5BD425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 descr="Tellmi: Better Mental Health – Apps on Google Play">
            <a:extLst>
              <a:ext uri="{FF2B5EF4-FFF2-40B4-BE49-F238E27FC236}">
                <a16:creationId xmlns:a16="http://schemas.microsoft.com/office/drawing/2014/main" id="{3852F6B1-6DCA-A712-2E38-F2A69C8B10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r="-141" b="246"/>
          <a:stretch>
            <a:fillRect/>
          </a:stretch>
        </p:blipFill>
        <p:spPr>
          <a:xfrm>
            <a:off x="2257914" y="1258339"/>
            <a:ext cx="6963029" cy="3971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6225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2000" b="-2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F75526-8F8C-60AD-9691-94D77E77A1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F64BD-8C5B-09D6-9915-B4C1FDDE9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954" y="3664"/>
            <a:ext cx="10515600" cy="1325563"/>
          </a:xfrm>
        </p:spPr>
        <p:txBody>
          <a:bodyPr/>
          <a:lstStyle/>
          <a:p>
            <a:r>
              <a:rPr lang="en-GB" b="1" dirty="0">
                <a:solidFill>
                  <a:srgbClr val="FFC000"/>
                </a:solidFill>
              </a:rPr>
              <a:t>What is </a:t>
            </a:r>
            <a:r>
              <a:rPr lang="en-GB" b="1" dirty="0" err="1">
                <a:solidFill>
                  <a:srgbClr val="FFC000"/>
                </a:solidFill>
              </a:rPr>
              <a:t>Tellmi</a:t>
            </a:r>
            <a:r>
              <a:rPr lang="en-GB" b="1" dirty="0">
                <a:solidFill>
                  <a:srgbClr val="FFC000"/>
                </a:solidFill>
              </a:rPr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553BE4-C0DA-50F5-57B8-079A7DF938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GB" dirty="0" err="1">
                <a:solidFill>
                  <a:srgbClr val="FFC000"/>
                </a:solidFill>
              </a:rPr>
              <a:t>Tellmi</a:t>
            </a:r>
            <a:r>
              <a:rPr lang="en-GB" dirty="0">
                <a:solidFill>
                  <a:srgbClr val="FFC000"/>
                </a:solidFill>
              </a:rPr>
              <a:t> is a safe, anonymous app where you can talk about absolute anything. </a:t>
            </a:r>
            <a:br>
              <a:rPr lang="en-GB" dirty="0">
                <a:solidFill>
                  <a:srgbClr val="FFC000"/>
                </a:solidFill>
              </a:rPr>
            </a:br>
            <a:r>
              <a:rPr lang="en-GB" dirty="0">
                <a:solidFill>
                  <a:srgbClr val="FFC000"/>
                </a:solidFill>
              </a:rPr>
              <a:t>From anxiety to autism, dating to depression, or self-harm to self-esteem, you can share your experience with those in the community to feel better.</a:t>
            </a:r>
          </a:p>
        </p:txBody>
      </p:sp>
    </p:spTree>
    <p:extLst>
      <p:ext uri="{BB962C8B-B14F-4D97-AF65-F5344CB8AC3E}">
        <p14:creationId xmlns:p14="http://schemas.microsoft.com/office/powerpoint/2010/main" val="856633376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2000" b="-2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A9A3C-0F6F-97CE-33D1-B6DDDB672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17436-498F-F531-EF24-EF09AE08D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954" y="3663"/>
            <a:ext cx="10515600" cy="1325563"/>
          </a:xfrm>
        </p:spPr>
        <p:txBody>
          <a:bodyPr/>
          <a:lstStyle/>
          <a:p>
            <a:r>
              <a:rPr lang="en-GB" b="1" dirty="0">
                <a:solidFill>
                  <a:srgbClr val="FFC000"/>
                </a:solidFill>
              </a:rPr>
              <a:t>How is </a:t>
            </a:r>
            <a:r>
              <a:rPr lang="en-GB" b="1" dirty="0" err="1">
                <a:solidFill>
                  <a:srgbClr val="FFC000"/>
                </a:solidFill>
              </a:rPr>
              <a:t>Tellmi</a:t>
            </a:r>
            <a:r>
              <a:rPr lang="en-GB" b="1" dirty="0">
                <a:solidFill>
                  <a:srgbClr val="FFC000"/>
                </a:solidFill>
              </a:rPr>
              <a:t> used?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1B37B6-5562-2FF4-D123-504F5F4CEE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>
                <a:solidFill>
                  <a:srgbClr val="FFC000"/>
                </a:solidFill>
                <a:ea typeface="+mn-lt"/>
                <a:cs typeface="+mn-lt"/>
              </a:rPr>
              <a:t>Moderated peer-to-peer support community. </a:t>
            </a:r>
            <a:endParaRPr lang="en-US">
              <a:solidFill>
                <a:srgbClr val="FFC000"/>
              </a:solidFill>
            </a:endParaRPr>
          </a:p>
          <a:p>
            <a:r>
              <a:rPr lang="en-GB">
                <a:solidFill>
                  <a:srgbClr val="FFC000"/>
                </a:solidFill>
                <a:ea typeface="+mn-lt"/>
                <a:cs typeface="+mn-lt"/>
              </a:rPr>
              <a:t>Provides safe online support and guidance. </a:t>
            </a:r>
            <a:endParaRPr lang="en-GB">
              <a:solidFill>
                <a:srgbClr val="FFC000"/>
              </a:solidFill>
            </a:endParaRPr>
          </a:p>
          <a:p>
            <a:r>
              <a:rPr lang="en-GB">
                <a:solidFill>
                  <a:srgbClr val="FFC000"/>
                </a:solidFill>
                <a:ea typeface="+mn-lt"/>
                <a:cs typeface="+mn-lt"/>
              </a:rPr>
              <a:t>Free Subscription – Used by anyone. </a:t>
            </a:r>
            <a:endParaRPr lang="en-GB">
              <a:solidFill>
                <a:srgbClr val="FFC000"/>
              </a:solidFill>
            </a:endParaRPr>
          </a:p>
          <a:p>
            <a:r>
              <a:rPr lang="en-GB" dirty="0">
                <a:solidFill>
                  <a:srgbClr val="FFC000"/>
                </a:solidFill>
                <a:ea typeface="+mn-lt"/>
                <a:cs typeface="+mn-lt"/>
              </a:rPr>
              <a:t>Connects users with further professional help when required. </a:t>
            </a:r>
            <a:endParaRPr lang="en-GB">
              <a:solidFill>
                <a:srgbClr val="FFC000"/>
              </a:solidFill>
            </a:endParaRPr>
          </a:p>
          <a:p>
            <a:r>
              <a:rPr lang="en-GB">
                <a:solidFill>
                  <a:srgbClr val="FFC000"/>
                </a:solidFill>
                <a:ea typeface="+mn-lt"/>
                <a:cs typeface="+mn-lt"/>
              </a:rPr>
              <a:t>Human Moderators track your wellbeing and development. Tailored to connect to people your age. </a:t>
            </a:r>
            <a:endParaRPr lang="en-GB">
              <a:solidFill>
                <a:srgbClr val="FFC000"/>
              </a:solidFill>
            </a:endParaRPr>
          </a:p>
          <a:p>
            <a:r>
              <a:rPr lang="en-GB">
                <a:solidFill>
                  <a:srgbClr val="FFC000"/>
                </a:solidFill>
                <a:ea typeface="+mn-lt"/>
                <a:cs typeface="+mn-lt"/>
              </a:rPr>
              <a:t>Accessed via webpage, IOS, Android or Desktop/PC.</a:t>
            </a:r>
            <a:br>
              <a:rPr lang="en-GB" dirty="0">
                <a:ea typeface="+mn-lt"/>
                <a:cs typeface="+mn-lt"/>
              </a:rPr>
            </a:br>
            <a:endParaRPr lang="en-GB">
              <a:solidFill>
                <a:srgbClr val="FFC000"/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605002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2000" b="-2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ADC1EA-F1C2-1792-CA1C-05C391D6C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BAABE-9FFA-928D-384B-7DC81B21F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954" y="3663"/>
            <a:ext cx="10515600" cy="1325563"/>
          </a:xfrm>
        </p:spPr>
        <p:txBody>
          <a:bodyPr/>
          <a:lstStyle/>
          <a:p>
            <a:r>
              <a:rPr lang="en-GB" b="1" dirty="0">
                <a:solidFill>
                  <a:srgbClr val="FFC000"/>
                </a:solidFill>
              </a:rPr>
              <a:t>Advantages of </a:t>
            </a:r>
            <a:r>
              <a:rPr lang="en-GB" b="1" dirty="0" err="1">
                <a:solidFill>
                  <a:srgbClr val="FFC000"/>
                </a:solidFill>
              </a:rPr>
              <a:t>Tellmi</a:t>
            </a:r>
            <a:endParaRPr lang="en-GB" b="1" dirty="0">
              <a:solidFill>
                <a:srgbClr val="FFC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5C7C5A-4994-B88D-EEA0-DD256B0EB5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7394"/>
            <a:ext cx="10515600" cy="4351338"/>
          </a:xfrm>
        </p:spPr>
        <p:txBody>
          <a:bodyPr vert="horz" lIns="91440" tIns="45720" rIns="91440" bIns="45720" rtlCol="0" anchor="t">
            <a:normAutofit fontScale="55000" lnSpcReduction="20000"/>
          </a:bodyPr>
          <a:lstStyle/>
          <a:p>
            <a:r>
              <a:rPr lang="en-GB" b="1">
                <a:solidFill>
                  <a:srgbClr val="FFC000"/>
                </a:solidFill>
                <a:ea typeface="+mn-lt"/>
                <a:cs typeface="+mn-lt"/>
              </a:rPr>
              <a:t>Improves mental wellbeing</a:t>
            </a:r>
            <a:r>
              <a:rPr lang="en-GB">
                <a:solidFill>
                  <a:srgbClr val="FFC000"/>
                </a:solidFill>
                <a:ea typeface="+mn-lt"/>
                <a:cs typeface="+mn-lt"/>
              </a:rPr>
              <a:t> – Helps users manage stress, anxiety, low mood, and other emotional difficulties. </a:t>
            </a:r>
            <a:endParaRPr lang="en-GB">
              <a:solidFill>
                <a:srgbClr val="FFC000"/>
              </a:solidFill>
            </a:endParaRPr>
          </a:p>
          <a:p>
            <a:r>
              <a:rPr lang="en-GB" b="1">
                <a:solidFill>
                  <a:srgbClr val="FFC000"/>
                </a:solidFill>
                <a:ea typeface="+mn-lt"/>
                <a:cs typeface="+mn-lt"/>
              </a:rPr>
              <a:t>Accessible from anywhere</a:t>
            </a:r>
            <a:r>
              <a:rPr lang="en-GB">
                <a:solidFill>
                  <a:srgbClr val="FFC000"/>
                </a:solidFill>
                <a:ea typeface="+mn-lt"/>
                <a:cs typeface="+mn-lt"/>
              </a:rPr>
              <a:t> – Available on smartphones, allowing support to be accessed wherever there is an internet connection. </a:t>
            </a:r>
            <a:endParaRPr lang="en-GB">
              <a:solidFill>
                <a:srgbClr val="FFC000"/>
              </a:solidFill>
            </a:endParaRPr>
          </a:p>
          <a:p>
            <a:r>
              <a:rPr lang="en-GB" b="1">
                <a:solidFill>
                  <a:srgbClr val="FFC000"/>
                </a:solidFill>
                <a:ea typeface="+mn-lt"/>
                <a:cs typeface="+mn-lt"/>
              </a:rPr>
              <a:t>Reduces feelings of isolation</a:t>
            </a:r>
            <a:r>
              <a:rPr lang="en-GB">
                <a:solidFill>
                  <a:srgbClr val="FFC000"/>
                </a:solidFill>
                <a:ea typeface="+mn-lt"/>
                <a:cs typeface="+mn-lt"/>
              </a:rPr>
              <a:t> – Connects users with a community, helping them feel less alone. </a:t>
            </a:r>
            <a:endParaRPr lang="en-GB">
              <a:solidFill>
                <a:srgbClr val="FFC000"/>
              </a:solidFill>
            </a:endParaRPr>
          </a:p>
          <a:p>
            <a:r>
              <a:rPr lang="en-GB" b="1">
                <a:solidFill>
                  <a:srgbClr val="FFC000"/>
                </a:solidFill>
                <a:ea typeface="+mn-lt"/>
                <a:cs typeface="+mn-lt"/>
              </a:rPr>
              <a:t>Encourages help-seeking behaviour</a:t>
            </a:r>
            <a:r>
              <a:rPr lang="en-GB">
                <a:solidFill>
                  <a:srgbClr val="FFC000"/>
                </a:solidFill>
                <a:ea typeface="+mn-lt"/>
                <a:cs typeface="+mn-lt"/>
              </a:rPr>
              <a:t> – Makes it easier for users to reach out for support when they need it. </a:t>
            </a:r>
            <a:endParaRPr lang="en-GB">
              <a:solidFill>
                <a:srgbClr val="FFC000"/>
              </a:solidFill>
            </a:endParaRPr>
          </a:p>
          <a:p>
            <a:r>
              <a:rPr lang="en-GB" b="1" dirty="0">
                <a:solidFill>
                  <a:srgbClr val="FFC000"/>
                </a:solidFill>
                <a:ea typeface="+mn-lt"/>
                <a:cs typeface="+mn-lt"/>
              </a:rPr>
              <a:t>Provides coping strategies</a:t>
            </a:r>
            <a:r>
              <a:rPr lang="en-GB" dirty="0">
                <a:solidFill>
                  <a:srgbClr val="FFC000"/>
                </a:solidFill>
                <a:ea typeface="+mn-lt"/>
                <a:cs typeface="+mn-lt"/>
              </a:rPr>
              <a:t> – Users can learn practical techniques for dealing with difficult situations and emotions. </a:t>
            </a:r>
            <a:endParaRPr lang="en-GB">
              <a:solidFill>
                <a:srgbClr val="FFC000"/>
              </a:solidFill>
            </a:endParaRPr>
          </a:p>
          <a:p>
            <a:r>
              <a:rPr lang="en-GB" b="1">
                <a:solidFill>
                  <a:srgbClr val="FFC000"/>
                </a:solidFill>
                <a:ea typeface="+mn-lt"/>
                <a:cs typeface="+mn-lt"/>
              </a:rPr>
              <a:t>Free to use for many users</a:t>
            </a:r>
            <a:r>
              <a:rPr lang="en-GB">
                <a:solidFill>
                  <a:srgbClr val="FFC000"/>
                </a:solidFill>
                <a:ea typeface="+mn-lt"/>
                <a:cs typeface="+mn-lt"/>
              </a:rPr>
              <a:t> – Often provided through schools, colleges, universities, or healthcare organisations. </a:t>
            </a:r>
            <a:endParaRPr lang="en-GB">
              <a:solidFill>
                <a:srgbClr val="FFC000"/>
              </a:solidFill>
            </a:endParaRPr>
          </a:p>
          <a:p>
            <a:r>
              <a:rPr lang="en-GB" b="1">
                <a:solidFill>
                  <a:srgbClr val="FFC000"/>
                </a:solidFill>
                <a:ea typeface="+mn-lt"/>
                <a:cs typeface="+mn-lt"/>
              </a:rPr>
              <a:t>Supports students under pressure</a:t>
            </a:r>
            <a:r>
              <a:rPr lang="en-GB">
                <a:solidFill>
                  <a:srgbClr val="FFC000"/>
                </a:solidFill>
                <a:ea typeface="+mn-lt"/>
                <a:cs typeface="+mn-lt"/>
              </a:rPr>
              <a:t> – Useful for managing exam stress, coursework deadlines, and academic anxiety. </a:t>
            </a:r>
            <a:endParaRPr lang="en-GB">
              <a:solidFill>
                <a:srgbClr val="FFC000"/>
              </a:solidFill>
            </a:endParaRPr>
          </a:p>
          <a:p>
            <a:r>
              <a:rPr lang="en-GB" b="1" dirty="0">
                <a:solidFill>
                  <a:srgbClr val="FFC000"/>
                </a:solidFill>
                <a:ea typeface="+mn-lt"/>
                <a:cs typeface="+mn-lt"/>
              </a:rPr>
              <a:t>Professional oversight</a:t>
            </a:r>
            <a:r>
              <a:rPr lang="en-GB" dirty="0">
                <a:solidFill>
                  <a:srgbClr val="FFC000"/>
                </a:solidFill>
                <a:ea typeface="+mn-lt"/>
                <a:cs typeface="+mn-lt"/>
              </a:rPr>
              <a:t> – Moderators can identify when a user may need additional support and direct them to appropriate services. </a:t>
            </a:r>
            <a:endParaRPr lang="en-GB">
              <a:solidFill>
                <a:srgbClr val="FFC000"/>
              </a:solidFill>
            </a:endParaRPr>
          </a:p>
          <a:p>
            <a:r>
              <a:rPr lang="en-GB" b="1">
                <a:solidFill>
                  <a:srgbClr val="FFC000"/>
                </a:solidFill>
                <a:ea typeface="+mn-lt"/>
                <a:cs typeface="+mn-lt"/>
              </a:rPr>
              <a:t>Promotes emotional resilience</a:t>
            </a:r>
            <a:r>
              <a:rPr lang="en-GB">
                <a:solidFill>
                  <a:srgbClr val="FFC000"/>
                </a:solidFill>
                <a:ea typeface="+mn-lt"/>
                <a:cs typeface="+mn-lt"/>
              </a:rPr>
              <a:t> – Encourages positive coping skills and self-confidence over time. </a:t>
            </a:r>
            <a:endParaRPr lang="en-GB">
              <a:solidFill>
                <a:srgbClr val="FFC000"/>
              </a:solidFill>
            </a:endParaRPr>
          </a:p>
          <a:p>
            <a:r>
              <a:rPr lang="en-GB" b="1">
                <a:solidFill>
                  <a:srgbClr val="FFC000"/>
                </a:solidFill>
                <a:ea typeface="+mn-lt"/>
                <a:cs typeface="+mn-lt"/>
              </a:rPr>
              <a:t>Easy to use</a:t>
            </a:r>
            <a:r>
              <a:rPr lang="en-GB">
                <a:solidFill>
                  <a:srgbClr val="FFC000"/>
                </a:solidFill>
                <a:ea typeface="+mn-lt"/>
                <a:cs typeface="+mn-lt"/>
              </a:rPr>
              <a:t> – The app has a simple interface that is accessible even for users with little technical experience. </a:t>
            </a:r>
            <a:endParaRPr lang="en-GB">
              <a:solidFill>
                <a:srgbClr val="FFC000"/>
              </a:solidFill>
            </a:endParaRPr>
          </a:p>
          <a:p>
            <a:r>
              <a:rPr lang="en-GB" b="1">
                <a:solidFill>
                  <a:srgbClr val="FFC000"/>
                </a:solidFill>
                <a:ea typeface="+mn-lt"/>
                <a:cs typeface="+mn-lt"/>
              </a:rPr>
              <a:t>Confidential and private</a:t>
            </a:r>
            <a:r>
              <a:rPr lang="en-GB">
                <a:solidFill>
                  <a:srgbClr val="FFC000"/>
                </a:solidFill>
                <a:ea typeface="+mn-lt"/>
                <a:cs typeface="+mn-lt"/>
              </a:rPr>
              <a:t> – Users can discuss sensitive topics without concerns about face-to-face judgement.</a:t>
            </a:r>
            <a:endParaRPr lang="en-GB">
              <a:solidFill>
                <a:srgbClr val="FFC000"/>
              </a:solidFill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3299151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2000" b="-2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33EC52-3738-D321-4E32-3B4C619C3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FEE2D-80ED-1C93-66EA-2E394F10B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954" y="3663"/>
            <a:ext cx="10515600" cy="1325563"/>
          </a:xfrm>
        </p:spPr>
        <p:txBody>
          <a:bodyPr/>
          <a:lstStyle/>
          <a:p>
            <a:r>
              <a:rPr lang="en-GB" b="1" dirty="0">
                <a:solidFill>
                  <a:srgbClr val="FFC000"/>
                </a:solidFill>
              </a:rPr>
              <a:t>Disadvantages of </a:t>
            </a:r>
            <a:r>
              <a:rPr lang="en-GB" b="1" dirty="0" err="1">
                <a:solidFill>
                  <a:srgbClr val="FFC000"/>
                </a:solidFill>
              </a:rPr>
              <a:t>Tellmi</a:t>
            </a:r>
            <a:endParaRPr lang="en-GB" dirty="0">
              <a:solidFill>
                <a:srgbClr val="FFC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D7AD00-1160-D441-283D-79AECCBC6F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7394"/>
            <a:ext cx="10515600" cy="4351338"/>
          </a:xfrm>
        </p:spPr>
        <p:txBody>
          <a:bodyPr vert="horz" lIns="91440" tIns="45720" rIns="91440" bIns="45720" rtlCol="0" anchor="t">
            <a:normAutofit fontScale="62500" lnSpcReduction="20000"/>
          </a:bodyPr>
          <a:lstStyle/>
          <a:p>
            <a:r>
              <a:rPr lang="en-GB" b="1">
                <a:solidFill>
                  <a:srgbClr val="FFC000"/>
                </a:solidFill>
                <a:ea typeface="+mn-lt"/>
                <a:cs typeface="+mn-lt"/>
              </a:rPr>
              <a:t>Requires internet access</a:t>
            </a:r>
            <a:r>
              <a:rPr lang="en-GB">
                <a:solidFill>
                  <a:srgbClr val="FFC000"/>
                </a:solidFill>
                <a:ea typeface="+mn-lt"/>
                <a:cs typeface="+mn-lt"/>
              </a:rPr>
              <a:t> – Users need a stable internet connection to access the app. </a:t>
            </a:r>
            <a:endParaRPr lang="en-GB">
              <a:solidFill>
                <a:srgbClr val="FFC000"/>
              </a:solidFill>
            </a:endParaRPr>
          </a:p>
          <a:p>
            <a:r>
              <a:rPr lang="en-GB" b="1">
                <a:solidFill>
                  <a:srgbClr val="FFC000"/>
                </a:solidFill>
                <a:ea typeface="+mn-lt"/>
                <a:cs typeface="+mn-lt"/>
              </a:rPr>
              <a:t>Not a replacement for therapy</a:t>
            </a:r>
            <a:r>
              <a:rPr lang="en-GB">
                <a:solidFill>
                  <a:srgbClr val="FFC000"/>
                </a:solidFill>
                <a:ea typeface="+mn-lt"/>
                <a:cs typeface="+mn-lt"/>
              </a:rPr>
              <a:t> – The app cannot provide the same level of support as a qualified mental health professional. </a:t>
            </a:r>
            <a:endParaRPr lang="en-GB">
              <a:solidFill>
                <a:srgbClr val="FFC000"/>
              </a:solidFill>
            </a:endParaRPr>
          </a:p>
          <a:p>
            <a:r>
              <a:rPr lang="en-GB" b="1">
                <a:solidFill>
                  <a:srgbClr val="FFC000"/>
                </a:solidFill>
                <a:ea typeface="+mn-lt"/>
                <a:cs typeface="+mn-lt"/>
              </a:rPr>
              <a:t>Limited personal interaction</a:t>
            </a:r>
            <a:r>
              <a:rPr lang="en-GB">
                <a:solidFill>
                  <a:srgbClr val="FFC000"/>
                </a:solidFill>
                <a:ea typeface="+mn-lt"/>
                <a:cs typeface="+mn-lt"/>
              </a:rPr>
              <a:t> – Online communication may feel less personal than face-to-face support. </a:t>
            </a:r>
            <a:endParaRPr lang="en-GB">
              <a:solidFill>
                <a:srgbClr val="FFC000"/>
              </a:solidFill>
            </a:endParaRPr>
          </a:p>
          <a:p>
            <a:r>
              <a:rPr lang="en-GB" b="1">
                <a:solidFill>
                  <a:srgbClr val="FFC000"/>
                </a:solidFill>
                <a:ea typeface="+mn-lt"/>
                <a:cs typeface="+mn-lt"/>
              </a:rPr>
              <a:t>Responses may not be immediate</a:t>
            </a:r>
            <a:r>
              <a:rPr lang="en-GB">
                <a:solidFill>
                  <a:srgbClr val="FFC000"/>
                </a:solidFill>
                <a:ea typeface="+mn-lt"/>
                <a:cs typeface="+mn-lt"/>
              </a:rPr>
              <a:t> – Although available 24/7, users may need to wait for replies from peers or moderators. </a:t>
            </a:r>
            <a:endParaRPr lang="en-GB">
              <a:solidFill>
                <a:srgbClr val="FFC000"/>
              </a:solidFill>
            </a:endParaRPr>
          </a:p>
          <a:p>
            <a:r>
              <a:rPr lang="en-GB" b="1">
                <a:solidFill>
                  <a:srgbClr val="FFC000"/>
                </a:solidFill>
                <a:ea typeface="+mn-lt"/>
                <a:cs typeface="+mn-lt"/>
              </a:rPr>
              <a:t>Reliance on peer advice</a:t>
            </a:r>
            <a:r>
              <a:rPr lang="en-GB">
                <a:solidFill>
                  <a:srgbClr val="FFC000"/>
                </a:solidFill>
                <a:ea typeface="+mn-lt"/>
                <a:cs typeface="+mn-lt"/>
              </a:rPr>
              <a:t> – Some suggestions from other users may not be suitable for every situation. </a:t>
            </a:r>
            <a:endParaRPr lang="en-GB">
              <a:solidFill>
                <a:srgbClr val="FFC000"/>
              </a:solidFill>
            </a:endParaRPr>
          </a:p>
          <a:p>
            <a:r>
              <a:rPr lang="en-GB" b="1">
                <a:solidFill>
                  <a:srgbClr val="FFC000"/>
                </a:solidFill>
                <a:ea typeface="+mn-lt"/>
                <a:cs typeface="+mn-lt"/>
              </a:rPr>
              <a:t>Not ideal for emergencies</a:t>
            </a:r>
            <a:r>
              <a:rPr lang="en-GB">
                <a:solidFill>
                  <a:srgbClr val="FFC000"/>
                </a:solidFill>
                <a:ea typeface="+mn-lt"/>
                <a:cs typeface="+mn-lt"/>
              </a:rPr>
              <a:t> – Users experiencing a mental health crisis need urgent professional help rather than app-based support. </a:t>
            </a:r>
            <a:endParaRPr lang="en-GB">
              <a:solidFill>
                <a:srgbClr val="FFC000"/>
              </a:solidFill>
            </a:endParaRPr>
          </a:p>
          <a:p>
            <a:r>
              <a:rPr lang="en-GB" b="1">
                <a:solidFill>
                  <a:srgbClr val="FFC000"/>
                </a:solidFill>
                <a:ea typeface="+mn-lt"/>
                <a:cs typeface="+mn-lt"/>
              </a:rPr>
              <a:t>Privacy concerns</a:t>
            </a:r>
            <a:r>
              <a:rPr lang="en-GB">
                <a:solidFill>
                  <a:srgbClr val="FFC000"/>
                </a:solidFill>
                <a:ea typeface="+mn-lt"/>
                <a:cs typeface="+mn-lt"/>
              </a:rPr>
              <a:t> – Some users may still worry about sharing personal information online, even anonymously. </a:t>
            </a:r>
            <a:endParaRPr lang="en-GB">
              <a:solidFill>
                <a:srgbClr val="FFC000"/>
              </a:solidFill>
            </a:endParaRPr>
          </a:p>
          <a:p>
            <a:r>
              <a:rPr lang="en-GB" b="1">
                <a:solidFill>
                  <a:srgbClr val="FFC000"/>
                </a:solidFill>
                <a:ea typeface="+mn-lt"/>
                <a:cs typeface="+mn-lt"/>
              </a:rPr>
              <a:t>Screen-time dependence</a:t>
            </a:r>
            <a:r>
              <a:rPr lang="en-GB">
                <a:solidFill>
                  <a:srgbClr val="FFC000"/>
                </a:solidFill>
                <a:ea typeface="+mn-lt"/>
                <a:cs typeface="+mn-lt"/>
              </a:rPr>
              <a:t> – Increased use of digital devices may contribute to excessive screen time. </a:t>
            </a:r>
            <a:endParaRPr lang="en-GB">
              <a:solidFill>
                <a:srgbClr val="FFC000"/>
              </a:solidFill>
            </a:endParaRPr>
          </a:p>
          <a:p>
            <a:r>
              <a:rPr lang="en-GB" b="1">
                <a:solidFill>
                  <a:srgbClr val="FFC000"/>
                </a:solidFill>
                <a:ea typeface="+mn-lt"/>
                <a:cs typeface="+mn-lt"/>
              </a:rPr>
              <a:t>Potential misunderstanding</a:t>
            </a:r>
            <a:r>
              <a:rPr lang="en-GB">
                <a:solidFill>
                  <a:srgbClr val="FFC000"/>
                </a:solidFill>
                <a:ea typeface="+mn-lt"/>
                <a:cs typeface="+mn-lt"/>
              </a:rPr>
              <a:t> – Written messages can sometimes be misinterpreted without tone of voice or facial expressions.</a:t>
            </a:r>
            <a:endParaRPr lang="en-GB">
              <a:solidFill>
                <a:srgbClr val="FFC000"/>
              </a:solidFill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294909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2000" b="-2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77727B-9268-C767-EB2B-455438DEC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0C0F1-A360-F67F-C505-8B6D7FCD68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954" y="3663"/>
            <a:ext cx="10515600" cy="1325563"/>
          </a:xfrm>
        </p:spPr>
        <p:txBody>
          <a:bodyPr/>
          <a:lstStyle/>
          <a:p>
            <a:r>
              <a:rPr lang="en-GB" b="1" dirty="0" err="1">
                <a:solidFill>
                  <a:srgbClr val="FFC000"/>
                </a:solidFill>
              </a:rPr>
              <a:t>Tellmi</a:t>
            </a:r>
            <a:r>
              <a:rPr lang="en-GB" b="1" dirty="0">
                <a:solidFill>
                  <a:srgbClr val="FFC000"/>
                </a:solidFill>
              </a:rPr>
              <a:t> Statistics</a:t>
            </a:r>
          </a:p>
        </p:txBody>
      </p:sp>
      <p:pic>
        <p:nvPicPr>
          <p:cNvPr id="4" name="Content Placeholder 3" descr="Exploring the economic potential of Tellmi: a novel digital mental health  support app for children and young adults | BMJ Paediatrics Open">
            <a:extLst>
              <a:ext uri="{FF2B5EF4-FFF2-40B4-BE49-F238E27FC236}">
                <a16:creationId xmlns:a16="http://schemas.microsoft.com/office/drawing/2014/main" id="{8F301CF1-B8C5-FD76-B736-CA4B86864A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46126" y="1006166"/>
            <a:ext cx="9460132" cy="5706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9486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2000" b="-2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DEE831-CEFD-9A30-AE85-D8F48009D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24CB7-7206-201C-F158-085B9FCE2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954" y="3663"/>
            <a:ext cx="10515600" cy="1325563"/>
          </a:xfrm>
        </p:spPr>
        <p:txBody>
          <a:bodyPr/>
          <a:lstStyle/>
          <a:p>
            <a:r>
              <a:rPr lang="en-GB" b="1" dirty="0" err="1">
                <a:solidFill>
                  <a:srgbClr val="FFC000"/>
                </a:solidFill>
              </a:rPr>
              <a:t>Tellmi</a:t>
            </a:r>
            <a:r>
              <a:rPr lang="en-GB" b="1" dirty="0">
                <a:solidFill>
                  <a:srgbClr val="FFC000"/>
                </a:solidFill>
              </a:rPr>
              <a:t> Statistics</a:t>
            </a:r>
          </a:p>
        </p:txBody>
      </p:sp>
      <p:pic>
        <p:nvPicPr>
          <p:cNvPr id="4" name="Content Placeholder 3" descr="Evidenced to improve mental health">
            <a:extLst>
              <a:ext uri="{FF2B5EF4-FFF2-40B4-BE49-F238E27FC236}">
                <a16:creationId xmlns:a16="http://schemas.microsoft.com/office/drawing/2014/main" id="{6F0DA41C-3B05-886B-35DE-52519C01F4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942519" y="1473933"/>
            <a:ext cx="775988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3069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2000" b="-2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0F4293-AEA3-7402-1E81-3601C442A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21E5D-3720-DA38-4099-25C3A05D6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954" y="3663"/>
            <a:ext cx="10515600" cy="1325563"/>
          </a:xfrm>
        </p:spPr>
        <p:txBody>
          <a:bodyPr/>
          <a:lstStyle/>
          <a:p>
            <a:r>
              <a:rPr lang="en-GB" b="1">
                <a:solidFill>
                  <a:srgbClr val="FFC000"/>
                </a:solidFill>
              </a:rPr>
              <a:t>Conclusion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1A9474-14BC-1931-E8C4-99D595EF48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9010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b="1" dirty="0" err="1">
                <a:solidFill>
                  <a:srgbClr val="FFC000"/>
                </a:solidFill>
                <a:ea typeface="+mn-lt"/>
                <a:cs typeface="+mn-lt"/>
              </a:rPr>
              <a:t>Tellmi</a:t>
            </a:r>
            <a:r>
              <a:rPr lang="en-GB" b="1" dirty="0">
                <a:solidFill>
                  <a:srgbClr val="FFC000"/>
                </a:solidFill>
                <a:ea typeface="+mn-lt"/>
                <a:cs typeface="+mn-lt"/>
              </a:rPr>
              <a:t> provides a safe and accessible platform</a:t>
            </a:r>
            <a:r>
              <a:rPr lang="en-GB" dirty="0">
                <a:solidFill>
                  <a:srgbClr val="FFC000"/>
                </a:solidFill>
                <a:ea typeface="+mn-lt"/>
                <a:cs typeface="+mn-lt"/>
              </a:rPr>
              <a:t> where young people and students can receive mental health and wellbeing support. </a:t>
            </a:r>
            <a:endParaRPr lang="en-GB" dirty="0">
              <a:solidFill>
                <a:srgbClr val="FFC000"/>
              </a:solidFill>
            </a:endParaRPr>
          </a:p>
          <a:p>
            <a:r>
              <a:rPr lang="en-GB" b="1">
                <a:solidFill>
                  <a:srgbClr val="FFC000"/>
                </a:solidFill>
                <a:ea typeface="+mn-lt"/>
                <a:cs typeface="+mn-lt"/>
              </a:rPr>
              <a:t>The app helps reduce feelings of stress, anxiety, and isolation</a:t>
            </a:r>
            <a:r>
              <a:rPr lang="en-GB" dirty="0">
                <a:solidFill>
                  <a:srgbClr val="FFC000"/>
                </a:solidFill>
                <a:ea typeface="+mn-lt"/>
                <a:cs typeface="+mn-lt"/>
              </a:rPr>
              <a:t> </a:t>
            </a:r>
            <a:r>
              <a:rPr lang="en-GB">
                <a:solidFill>
                  <a:srgbClr val="FFC000"/>
                </a:solidFill>
                <a:ea typeface="+mn-lt"/>
                <a:cs typeface="+mn-lt"/>
              </a:rPr>
              <a:t>through anonymous peer support and professional moderation. </a:t>
            </a:r>
            <a:endParaRPr lang="en-GB">
              <a:solidFill>
                <a:srgbClr val="FFC000"/>
              </a:solidFill>
            </a:endParaRPr>
          </a:p>
          <a:p>
            <a:r>
              <a:rPr lang="en-GB" b="1">
                <a:solidFill>
                  <a:srgbClr val="FFC000"/>
                </a:solidFill>
                <a:ea typeface="+mn-lt"/>
                <a:cs typeface="+mn-lt"/>
              </a:rPr>
              <a:t>Its ease of access and 24/7 availability</a:t>
            </a:r>
            <a:r>
              <a:rPr lang="en-GB">
                <a:solidFill>
                  <a:srgbClr val="FFC000"/>
                </a:solidFill>
                <a:ea typeface="+mn-lt"/>
                <a:cs typeface="+mn-lt"/>
              </a:rPr>
              <a:t> make it a convenient resource for users seeking support at any time. </a:t>
            </a:r>
            <a:endParaRPr lang="en-GB">
              <a:solidFill>
                <a:srgbClr val="FFC000"/>
              </a:solidFill>
            </a:endParaRPr>
          </a:p>
          <a:p>
            <a:r>
              <a:rPr lang="en-GB" b="1" dirty="0">
                <a:solidFill>
                  <a:srgbClr val="FFC000"/>
                </a:solidFill>
                <a:ea typeface="+mn-lt"/>
                <a:cs typeface="+mn-lt"/>
              </a:rPr>
              <a:t>While </a:t>
            </a:r>
            <a:r>
              <a:rPr lang="en-GB" b="1" dirty="0" err="1">
                <a:solidFill>
                  <a:srgbClr val="FFC000"/>
                </a:solidFill>
                <a:ea typeface="+mn-lt"/>
                <a:cs typeface="+mn-lt"/>
              </a:rPr>
              <a:t>Tellmi</a:t>
            </a:r>
            <a:r>
              <a:rPr lang="en-GB" b="1" dirty="0">
                <a:solidFill>
                  <a:srgbClr val="FFC000"/>
                </a:solidFill>
                <a:ea typeface="+mn-lt"/>
                <a:cs typeface="+mn-lt"/>
              </a:rPr>
              <a:t> is a valuable wellbeing tool, it should complement rather than replace professional mental health services when more specialised support is needed.</a:t>
            </a:r>
            <a:endParaRPr lang="en-GB" dirty="0">
              <a:solidFill>
                <a:srgbClr val="FFC000"/>
              </a:solidFill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6708549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8EBC5-D726-3C49-2624-93B424F6F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3571B1-FE5C-2ACB-A39C-DBC6253108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GB" dirty="0">
                <a:ea typeface="+mn-lt"/>
                <a:cs typeface="+mn-lt"/>
                <a:hlinkClick r:id="rId3"/>
              </a:rPr>
              <a:t>https://www.tellmi.help/impact-evidence</a:t>
            </a:r>
            <a:br>
              <a:rPr lang="en-GB" dirty="0">
                <a:ea typeface="+mn-lt"/>
                <a:cs typeface="+mn-lt"/>
              </a:rPr>
            </a:br>
            <a:r>
              <a:rPr lang="en-GB" dirty="0">
                <a:ea typeface="+mn-lt"/>
                <a:cs typeface="+mn-lt"/>
                <a:hlinkClick r:id="rId4"/>
              </a:rPr>
              <a:t>https://bmjpaedsopen.bmj.com/content/9/1/e003592</a:t>
            </a:r>
            <a:br>
              <a:rPr lang="en-GB" dirty="0">
                <a:ea typeface="+mn-lt"/>
                <a:cs typeface="+mn-lt"/>
              </a:rPr>
            </a:br>
            <a:r>
              <a:rPr lang="en-GB" dirty="0">
                <a:ea typeface="+mn-lt"/>
                <a:cs typeface="+mn-lt"/>
                <a:hlinkClick r:id="rId5"/>
              </a:rPr>
              <a:t>https://lightbulbtrust.org/impact-partner/tellmi/</a:t>
            </a:r>
            <a:br>
              <a:rPr lang="en-GB" dirty="0">
                <a:ea typeface="+mn-lt"/>
                <a:cs typeface="+mn-lt"/>
              </a:rPr>
            </a:br>
            <a:r>
              <a:rPr lang="en-GB" dirty="0">
                <a:ea typeface="+mn-lt"/>
                <a:cs typeface="+mn-lt"/>
                <a:hlinkClick r:id="rId6"/>
              </a:rPr>
              <a:t>https://www.sbrihealthcare.org.uk/impact-case-studies/case-studies/</a:t>
            </a:r>
            <a:br>
              <a:rPr lang="en-GB" dirty="0">
                <a:ea typeface="+mn-lt"/>
                <a:cs typeface="+mn-lt"/>
              </a:rPr>
            </a:br>
            <a:endParaRPr lang="en-GB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8853830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2B1B4-BB11-E5B3-A15F-F98DD33E1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1354" y="1449510"/>
            <a:ext cx="10515600" cy="1325563"/>
          </a:xfrm>
        </p:spPr>
        <p:txBody>
          <a:bodyPr/>
          <a:lstStyle/>
          <a:p>
            <a:r>
              <a:rPr lang="en-GB" b="1">
                <a:solidFill>
                  <a:srgbClr val="FFC000"/>
                </a:solidFill>
              </a:rPr>
              <a:t>Thank you for listening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FD6757-933F-4339-B136-B6142E1DC6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0584" y="2509472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GB" b="1">
                <a:solidFill>
                  <a:srgbClr val="FFC000"/>
                </a:solidFill>
              </a:rPr>
              <a:t>Q&amp;A Time</a:t>
            </a:r>
            <a:endParaRPr lang="en-GB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71015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How could digital technologies  increase student wellbeing?</vt:lpstr>
      <vt:lpstr>What is Student Well-being?</vt:lpstr>
      <vt:lpstr>PowerPoint Presentation</vt:lpstr>
      <vt:lpstr>What is Tellmi?</vt:lpstr>
      <vt:lpstr>How is Tellmi used?</vt:lpstr>
      <vt:lpstr>Advantages of Tellmi</vt:lpstr>
      <vt:lpstr>Disadvantages of Tellmi</vt:lpstr>
      <vt:lpstr>Tellmi Statistics</vt:lpstr>
      <vt:lpstr>Tellmi Statistics</vt:lpstr>
      <vt:lpstr>Conclusion </vt:lpstr>
      <vt:lpstr>References</vt:lpstr>
      <vt:lpstr>Thank you for listening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220</cp:revision>
  <dcterms:created xsi:type="dcterms:W3CDTF">2026-06-02T16:51:23Z</dcterms:created>
  <dcterms:modified xsi:type="dcterms:W3CDTF">2026-06-02T18:20:31Z</dcterms:modified>
</cp:coreProperties>
</file>